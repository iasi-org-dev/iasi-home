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PORTADA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512064"/>
            <a:ext cx="12191695" cy="5861304"/>
          </a:xfrm>
          <a:prstGeom prst="rect">
            <a:avLst/>
          </a:prstGeom>
          <a:solidFill>
            <a:schemeClr val="dk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914400"/>
            <a:ext cx="2560320" cy="4206240"/>
          </a:xfrm>
          <a:prstGeom prst="arc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55480" y="1417320"/>
            <a:ext cx="1920240" cy="3383280"/>
          </a:xfrm>
          <a:prstGeom prst="arc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86384" y="1078992"/>
            <a:ext cx="128016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" y="1161288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1572768"/>
            <a:ext cx="78638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chemeClr val="l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Ingeniería Aumentada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chemeClr val="l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Sistemas Inteligentes</a:t>
            </a:r>
            <a:endParaRPr lang="en-US" sz="37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tesis metodológica a la infraestructura operativa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maestro · web navegable · PDF opcional</a:t>
            </a:r>
            <a:endParaRPr lang="en-US" sz="1100" dirty="0"/>
          </a:p>
        </p:txBody>
      </p:sp>
      <p:sp>
        <p:nvSpPr>
          <p:cNvPr id="17" name="Title 1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IASI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lectura rápida de la idea, la infraestructura y la forma de publicación.</a:t>
            </a:r>
            <a:endParaRPr lang="en-US" sz="1180" dirty="0"/>
          </a:p>
        </p:txBody>
      </p:sp>
      <p:sp>
        <p:nvSpPr>
          <p:cNvPr id="11" name="Text 9">
            <a:hlinkClick r:id="rId1" tooltip="" action="ppaction://hlinksldjump"/>
          </p:cNvPr>
          <p:cNvSpPr/>
          <p:nvPr/>
        </p:nvSpPr>
        <p:spPr>
          <a:xfrm>
            <a:off x="914400" y="178308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1000" dirty="0"/>
          </a:p>
        </p:txBody>
      </p:sp>
      <p:sp>
        <p:nvSpPr>
          <p:cNvPr id="12" name="Text 10">
            <a:hlinkClick r:id="rId2" tooltip="" action="ppaction://hlinksldjump"/>
          </p:cNvPr>
          <p:cNvSpPr/>
          <p:nvPr/>
        </p:nvSpPr>
        <p:spPr>
          <a:xfrm>
            <a:off x="1417320" y="17830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dk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IASI nace como metodología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0" y="190195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69880" y="178308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>
            <a:hlinkClick r:id="rId3" tooltip="" action="ppaction://hlinksldjump"/>
          </p:cNvPr>
          <p:cNvSpPr/>
          <p:nvPr/>
        </p:nvSpPr>
        <p:spPr>
          <a:xfrm>
            <a:off x="914400" y="228600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1000" dirty="0"/>
          </a:p>
        </p:txBody>
      </p:sp>
      <p:sp>
        <p:nvSpPr>
          <p:cNvPr id="16" name="Text 14">
            <a:hlinkClick r:id="rId4" tooltip="" action="ppaction://hlinksldjump"/>
          </p:cNvPr>
          <p:cNvSpPr/>
          <p:nvPr/>
        </p:nvSpPr>
        <p:spPr>
          <a:xfrm>
            <a:off x="1417320" y="2286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dk1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Pero no se queda en papel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0" y="240487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69880" y="228600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>
            <a:hlinkClick r:id="rId5" tooltip="" action="ppaction://hlinksldjump"/>
          </p:cNvPr>
          <p:cNvSpPr/>
          <p:nvPr/>
        </p:nvSpPr>
        <p:spPr>
          <a:xfrm>
            <a:off x="914400" y="278892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1000" dirty="0"/>
          </a:p>
        </p:txBody>
      </p:sp>
      <p:sp>
        <p:nvSpPr>
          <p:cNvPr id="20" name="Text 18">
            <a:hlinkClick r:id="rId6" tooltip="" action="ppaction://hlinksldjump"/>
          </p:cNvPr>
          <p:cNvSpPr/>
          <p:nvPr/>
        </p:nvSpPr>
        <p:spPr>
          <a:xfrm>
            <a:off x="1417320" y="278892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dk1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Principios de infraestructura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0" y="290779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469880" y="278892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>
            <a:hlinkClick r:id="rId7" tooltip="" action="ppaction://hlinksldjump"/>
          </p:cNvPr>
          <p:cNvSpPr/>
          <p:nvPr/>
        </p:nvSpPr>
        <p:spPr>
          <a:xfrm>
            <a:off x="914400" y="329184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1000" dirty="0"/>
          </a:p>
        </p:txBody>
      </p:sp>
      <p:sp>
        <p:nvSpPr>
          <p:cNvPr id="24" name="Text 22">
            <a:hlinkClick r:id="rId8" tooltip="" action="ppaction://hlinksldjump"/>
          </p:cNvPr>
          <p:cNvSpPr/>
          <p:nvPr/>
        </p:nvSpPr>
        <p:spPr>
          <a:xfrm>
            <a:off x="1417320" y="329184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chemeClr val="dk1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Topología IASI Infrastructure V2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12480" y="341071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469880" y="329184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06</a:t>
            </a:r>
            <a:endParaRPr lang="en-US" sz="900" dirty="0"/>
          </a:p>
        </p:txBody>
      </p:sp>
      <p:sp>
        <p:nvSpPr>
          <p:cNvPr id="27" name="Text 25">
            <a:hlinkClick r:id="rId9" tooltip="" action="ppaction://hlinksldjump"/>
          </p:cNvPr>
          <p:cNvSpPr/>
          <p:nvPr/>
        </p:nvSpPr>
        <p:spPr>
          <a:xfrm>
            <a:off x="914400" y="379476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1000" dirty="0"/>
          </a:p>
        </p:txBody>
      </p:sp>
      <p:sp>
        <p:nvSpPr>
          <p:cNvPr id="28" name="Text 26">
            <a:hlinkClick r:id="rId10" tooltip="" action="ppaction://hlinksldjump"/>
          </p:cNvPr>
          <p:cNvSpPr/>
          <p:nvPr/>
        </p:nvSpPr>
        <p:spPr>
          <a:xfrm>
            <a:off x="1417320" y="379476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dk1"/>
                </a:solidFill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Nodos y responsabilidades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0" y="391363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469880" y="379476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07</a:t>
            </a:r>
            <a:endParaRPr lang="en-US" sz="900" dirty="0"/>
          </a:p>
        </p:txBody>
      </p:sp>
      <p:sp>
        <p:nvSpPr>
          <p:cNvPr id="31" name="Text 29">
            <a:hlinkClick r:id="rId11" tooltip="" action="ppaction://hlinksldjump"/>
          </p:cNvPr>
          <p:cNvSpPr/>
          <p:nvPr/>
        </p:nvSpPr>
        <p:spPr>
          <a:xfrm>
            <a:off x="914400" y="429768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1000" dirty="0"/>
          </a:p>
        </p:txBody>
      </p:sp>
      <p:sp>
        <p:nvSpPr>
          <p:cNvPr id="32" name="Text 30">
            <a:hlinkClick r:id="rId12" tooltip="" action="ppaction://hlinksldjump"/>
          </p:cNvPr>
          <p:cNvSpPr/>
          <p:nvPr/>
        </p:nvSpPr>
        <p:spPr>
          <a:xfrm>
            <a:off x="1417320" y="42976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dk1"/>
                </a:solidFill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PPTX → web navegable → PDF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12480" y="441655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469880" y="429768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08</a:t>
            </a:r>
            <a:endParaRPr lang="en-US" sz="900" dirty="0"/>
          </a:p>
        </p:txBody>
      </p:sp>
      <p:sp>
        <p:nvSpPr>
          <p:cNvPr id="35" name="Text 33">
            <a:hlinkClick r:id="rId13" tooltip="" action="ppaction://hlinksldjump"/>
          </p:cNvPr>
          <p:cNvSpPr/>
          <p:nvPr/>
        </p:nvSpPr>
        <p:spPr>
          <a:xfrm>
            <a:off x="914400" y="480060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1000" dirty="0"/>
          </a:p>
        </p:txBody>
      </p:sp>
      <p:sp>
        <p:nvSpPr>
          <p:cNvPr id="36" name="Text 34">
            <a:hlinkClick r:id="rId14" tooltip="" action="ppaction://hlinksldjump"/>
          </p:cNvPr>
          <p:cNvSpPr/>
          <p:nvPr/>
        </p:nvSpPr>
        <p:spPr>
          <a:xfrm>
            <a:off x="141732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dk1"/>
                </a:solidFill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Promoción desde labs/work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412480" y="491947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469880" y="480060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09</a:t>
            </a:r>
            <a:endParaRPr lang="en-US" sz="900" dirty="0"/>
          </a:p>
        </p:txBody>
      </p:sp>
      <p:sp>
        <p:nvSpPr>
          <p:cNvPr id="39" name="Text 37">
            <a:hlinkClick r:id="rId15" tooltip="" action="ppaction://hlinksldjump"/>
          </p:cNvPr>
          <p:cNvSpPr/>
          <p:nvPr/>
        </p:nvSpPr>
        <p:spPr>
          <a:xfrm>
            <a:off x="914400" y="5303520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4"/>
                </a:solidFill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1000" dirty="0"/>
          </a:p>
        </p:txBody>
      </p:sp>
      <p:sp>
        <p:nvSpPr>
          <p:cNvPr id="40" name="Text 38">
            <a:hlinkClick r:id="rId16" tooltip="" action="ppaction://hlinksldjump"/>
          </p:cNvPr>
          <p:cNvSpPr/>
          <p:nvPr/>
        </p:nvSpPr>
        <p:spPr>
          <a:xfrm>
            <a:off x="1417320" y="530352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dk1"/>
                </a:solidFill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Próximos pasos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412480" y="5422392"/>
            <a:ext cx="1920240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469880" y="530352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10</a:t>
            </a:r>
            <a:endParaRPr lang="en-US" sz="900" dirty="0"/>
          </a:p>
        </p:txBody>
      </p:sp>
      <p:sp>
        <p:nvSpPr>
          <p:cNvPr id="43" name="Title 2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Índice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 nace como metodología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punto de partida son libros, pero el campo de juego real es más grande.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31520" y="1645920"/>
            <a:ext cx="4572000" cy="4069080"/>
          </a:xfrm>
          <a:prstGeom prst="rect">
            <a:avLst/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51560" y="1993392"/>
            <a:ext cx="39319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Aunque IASI nace como una metodología, es decir, como texto, libro y marco conceptual, el entregable inicial se plantea como tres volúmenes.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657600"/>
            <a:ext cx="3977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cuando los Sistemas Inteligentes participan en la propia ingeniería, la metodología necesita suelo operativo: infraestructura, software, herramientas, repositorios, automatismos y formas de materializar artefactos.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3611880"/>
            <a:ext cx="1005840" cy="0"/>
          </a:xfrm>
          <a:prstGeom prst="line">
            <a:avLst/>
          </a:prstGeom>
          <a:noFill/>
          <a:ln>
            <a:noFill/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8EE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91440" cy="1051560"/>
          </a:xfrm>
          <a:prstGeom prst="rect">
            <a:avLst/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76288" y="1984248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solo “escribir sobre”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76288" y="2359152"/>
            <a:ext cx="4005072" cy="39319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también construye el entorno donde esas ideas se prueban, viven y se vuelven operativas.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675120" y="315468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675120" y="3154680"/>
            <a:ext cx="91440" cy="105156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76288" y="3310128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solo “usar IA”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76288" y="3685032"/>
            <a:ext cx="4005072" cy="39319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cuestión no es añadir una herramienta, sino diseñar cómo humano y SI colaboran con trazabilidad y criterio.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675120" y="448056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EAF7F6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675120" y="4480560"/>
            <a:ext cx="91440" cy="105156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76288" y="4636008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solo “documentación”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76288" y="5010912"/>
            <a:ext cx="4005072" cy="39319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artefactos editables y publicables se tratan como parte del sistema de ingeniería.</a:t>
            </a:r>
            <a:endParaRPr lang="en-US" sz="1120" dirty="0"/>
          </a:p>
        </p:txBody>
      </p:sp>
      <p:sp>
        <p:nvSpPr>
          <p:cNvPr id="28" name="Title 3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IASI nace como metodología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libro al ecosistema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tres volúmenes son la tesis. La infraestructura es el laboratorio donde se vuelve tangible.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31520" y="16002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1600200"/>
            <a:ext cx="91440" cy="11430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" y="175564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 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2130552"/>
            <a:ext cx="2862072" cy="4846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de Ingeniería Aumentada y cambio de paradigma.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7F6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2971800"/>
            <a:ext cx="91440" cy="1143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2688" y="312724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 II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3502152"/>
            <a:ext cx="2862072" cy="4846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Método, prácticas, ciclos de vida y artefactos.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0ECFA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520" y="4343400"/>
            <a:ext cx="91440" cy="1143000"/>
          </a:xfrm>
          <a:prstGeom prst="rect">
            <a:avLst/>
          </a:prstGeom>
          <a:solidFill>
            <a:schemeClr val="accent3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2688" y="449884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 III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" y="4873752"/>
            <a:ext cx="2862072" cy="4846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Aplicaciones, gobierno, auditoría, operación y evolución.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160520" y="3456432"/>
            <a:ext cx="1005840" cy="0"/>
          </a:xfrm>
          <a:prstGeom prst="line">
            <a:avLst/>
          </a:prstGeom>
          <a:noFill/>
          <a:ln>
            <a:noFill/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349240" y="1691640"/>
            <a:ext cx="6080760" cy="3657600"/>
          </a:xfrm>
          <a:prstGeom prst="roundRect">
            <a:avLst>
              <a:gd name="adj" fmla="val 2500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1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15000" y="2057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 operativo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715000" y="2651760"/>
            <a:ext cx="2331720" cy="841248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715000" y="2651760"/>
            <a:ext cx="91440" cy="841248"/>
          </a:xfrm>
          <a:prstGeom prst="rect">
            <a:avLst/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16168" y="2807208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Infraestructura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16168" y="3182112"/>
            <a:ext cx="1947672" cy="1828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Hyper-V, red privada, nodos especializados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458200" y="2651760"/>
            <a:ext cx="2331720" cy="841248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458200" y="2651760"/>
            <a:ext cx="91440" cy="841248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59368" y="2807208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59368" y="3182112"/>
            <a:ext cx="1947672" cy="1828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CLI, materialize, automatismos, plantillas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715000" y="3822192"/>
            <a:ext cx="2331720" cy="841248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715000" y="3822192"/>
            <a:ext cx="91440" cy="841248"/>
          </a:xfrm>
          <a:prstGeom prst="rect">
            <a:avLst/>
          </a:prstGeom>
          <a:solidFill>
            <a:schemeClr val="accent5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16168" y="3977640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916168" y="4352544"/>
            <a:ext cx="1947672" cy="1828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Quarto, PowerPoint, repos, IA local y cloud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8458200" y="3822192"/>
            <a:ext cx="2331720" cy="841248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458200" y="3822192"/>
            <a:ext cx="91440" cy="841248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659368" y="3977640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Publicación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659368" y="4352544"/>
            <a:ext cx="1947672" cy="18288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navegable, PDF, documentación derivada</a:t>
            </a:r>
            <a:endParaRPr lang="en-US" sz="1120" dirty="0"/>
          </a:p>
        </p:txBody>
      </p:sp>
      <p:sp>
        <p:nvSpPr>
          <p:cNvPr id="43" name="Title 4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Del libro al ecosistema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Principios de infraestructura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no es decorado técnico. Es parte del método.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31520" y="1600200"/>
            <a:ext cx="3154680" cy="132588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1600200"/>
            <a:ext cx="91440" cy="13258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" y="1755648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Local-first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2130552"/>
            <a:ext cx="2770632" cy="6675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controlado para aprender, construir, romper y recomponer sin pedir permiso al Olimpo cloud.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434840" y="1600200"/>
            <a:ext cx="3154680" cy="132588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434840" y="1600200"/>
            <a:ext cx="91440" cy="132588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36008" y="1755648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Separación clara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36008" y="2130552"/>
            <a:ext cx="2770632" cy="6675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estable, laboratorio experimental y zona franca no son lo mismo.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154680" cy="132588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38160" y="1600200"/>
            <a:ext cx="91440" cy="1325880"/>
          </a:xfrm>
          <a:prstGeom prst="rect">
            <a:avLst/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39328" y="1755648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Materializable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39328" y="2130552"/>
            <a:ext cx="2770632" cy="6675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fuente puede producir salidas distintas: web, PDF, documentación, entornos, scripts.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31520" y="3474720"/>
            <a:ext cx="3154680" cy="132588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3474720"/>
            <a:ext cx="91440" cy="1325880"/>
          </a:xfrm>
          <a:prstGeom prst="rect">
            <a:avLst/>
          </a:prstGeom>
          <a:solidFill>
            <a:schemeClr val="accent3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2688" y="3630168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" y="4005072"/>
            <a:ext cx="2770632" cy="6675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derivación debe poder explicarse: qué fuente, qué target, qué reglas y qué resultado.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434840" y="3474720"/>
            <a:ext cx="3154680" cy="132588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434840" y="3474720"/>
            <a:ext cx="91440" cy="1325880"/>
          </a:xfrm>
          <a:prstGeom prst="rect">
            <a:avLst/>
          </a:prstGeom>
          <a:solidFill>
            <a:schemeClr val="accent5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36008" y="3630168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Promoción explícita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36008" y="4005072"/>
            <a:ext cx="2770632" cy="6675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 pasa de playground a arquitectura por ósmosis. Se decide y se documenta.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138160" y="3474720"/>
            <a:ext cx="3154680" cy="132588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38160" y="3474720"/>
            <a:ext cx="91440" cy="1325880"/>
          </a:xfrm>
          <a:prstGeom prst="rect">
            <a:avLst/>
          </a:prstGeom>
          <a:solidFill>
            <a:schemeClr val="accent6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339328" y="3630168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Extensible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39328" y="4005072"/>
            <a:ext cx="2770632" cy="6675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nodos futuros, como iasi-tests, quedan previstos sin contaminar la topología actual.</a:t>
            </a:r>
            <a:endParaRPr lang="en-US" sz="1120" dirty="0"/>
          </a:p>
        </p:txBody>
      </p:sp>
      <p:sp>
        <p:nvSpPr>
          <p:cNvPr id="36" name="Title 5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Principios de infraestructura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INFRASTRUCTURE V2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Topología IASI Infrastructure V2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Subred privada IASI en Hyper-V con arquitectura estable y playground deliberado.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2920" y="1508760"/>
            <a:ext cx="8732520" cy="4434840"/>
          </a:xfrm>
          <a:prstGeom prst="roundRect">
            <a:avLst>
              <a:gd name="adj" fmla="val 2062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1700784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dk1"/>
                </a:solidFill>
              </a:rPr>
              <a:t>STABLE ARCHITECTURE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64040" y="1508760"/>
            <a:ext cx="2240280" cy="4434840"/>
          </a:xfrm>
          <a:prstGeom prst="roundRect">
            <a:avLst>
              <a:gd name="adj" fmla="val 4082"/>
            </a:avLst>
          </a:prstGeom>
          <a:solidFill>
            <a:srgbClr val="FFF8EE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74352" y="1700784"/>
            <a:ext cx="181051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chemeClr val="accent4"/>
                </a:solidFill>
              </a:rPr>
              <a:t>PLAYGROUND / BACKDOOR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1627632" y="3401568"/>
            <a:ext cx="0" cy="1078992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93008" y="3401568"/>
            <a:ext cx="0" cy="1078992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358384" y="3401568"/>
            <a:ext cx="0" cy="1078992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223760" y="3401568"/>
            <a:ext cx="0" cy="1078992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85632" y="4681728"/>
            <a:ext cx="978408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588752" y="3493008"/>
            <a:ext cx="0" cy="118872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68680" y="2103120"/>
            <a:ext cx="1508760" cy="1170432"/>
          </a:xfrm>
          <a:prstGeom prst="roundRect">
            <a:avLst>
              <a:gd name="adj" fmla="val 7031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41832" y="2267712"/>
            <a:ext cx="13624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l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iasi-dev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8408" y="2633472"/>
            <a:ext cx="1289304" cy="51206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de desarrollo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43200" y="2103120"/>
            <a:ext cx="1508760" cy="1170432"/>
          </a:xfrm>
          <a:prstGeom prst="roundRect">
            <a:avLst>
              <a:gd name="adj" fmla="val 7031"/>
            </a:avLst>
          </a:prstGeom>
          <a:solidFill>
            <a:schemeClr val="accent2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816352" y="2267712"/>
            <a:ext cx="13624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l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iasi-tools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52928" y="2633472"/>
            <a:ext cx="1289304" cy="51206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Server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ingeniería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608576" y="2103120"/>
            <a:ext cx="1508760" cy="1170432"/>
          </a:xfrm>
          <a:prstGeom prst="roundRect">
            <a:avLst>
              <a:gd name="adj" fmla="val 7031"/>
            </a:avLst>
          </a:prstGeom>
          <a:solidFill>
            <a:schemeClr val="accent3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681728" y="2267712"/>
            <a:ext cx="13624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l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18304" y="2633472"/>
            <a:ext cx="1289304" cy="51206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Server + GPU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· modelos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473952" y="2103120"/>
            <a:ext cx="1508760" cy="1170432"/>
          </a:xfrm>
          <a:prstGeom prst="roundRect">
            <a:avLst>
              <a:gd name="adj" fmla="val 7031"/>
            </a:avLst>
          </a:prstGeom>
          <a:solidFill>
            <a:schemeClr val="accent5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47104" y="2267712"/>
            <a:ext cx="13624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l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iasi-labs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680" y="2633472"/>
            <a:ext cx="1289304" cy="51206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Kubuntu GUI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 · PoC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838944" y="2121408"/>
            <a:ext cx="1490472" cy="1261872"/>
          </a:xfrm>
          <a:prstGeom prst="roundRect">
            <a:avLst>
              <a:gd name="adj" fmla="val 6522"/>
            </a:avLst>
          </a:prstGeom>
          <a:solidFill>
            <a:schemeClr val="accent4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912096" y="2286000"/>
            <a:ext cx="13441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l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iasi-work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48672" y="2651760"/>
            <a:ext cx="1271016" cy="60350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franca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hoc · temporal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14400" y="4480560"/>
            <a:ext cx="7635240" cy="530352"/>
          </a:xfrm>
          <a:prstGeom prst="roundRect">
            <a:avLst>
              <a:gd name="adj" fmla="val 12069"/>
            </a:avLst>
          </a:prstGeom>
          <a:solidFill>
            <a:schemeClr val="l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143000" y="4636008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iasi-net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423160" y="4654296"/>
            <a:ext cx="56692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chemeClr val="dk2"/>
                </a:solidFill>
              </a:rPr>
              <a:t>Hyper-V Internal Switch + NAT · 10.77.0.0/24 · gateway 10.77.0.1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868680" y="345643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chemeClr val="dk2"/>
                </a:solidFill>
              </a:rPr>
              <a:t>10.77.0.10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2743200" y="345643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chemeClr val="dk2"/>
                </a:solidFill>
              </a:rPr>
              <a:t>10.77.0.20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4608576" y="345643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chemeClr val="dk2"/>
                </a:solidFill>
              </a:rPr>
              <a:t>10.77.0.30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6473952" y="345643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chemeClr val="dk2"/>
                </a:solidFill>
              </a:rPr>
              <a:t>10.77.0.40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9838944" y="3529584"/>
            <a:ext cx="149047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chemeClr val="dk2"/>
                </a:solidFill>
              </a:rPr>
              <a:t>dynamic / reserved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9765792" y="4069080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chemeClr val="accent6"/>
                </a:solidFill>
              </a:rPr>
              <a:t>Nada aquí se convierte en arquitectura hasta promoción explícita.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777240" y="555955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chemeClr val="dk2"/>
                </a:solidFill>
              </a:rPr>
              <a:t>iasi-tests queda reservado para un futuro nodo dedicado específicamente a testing.</a:t>
            </a:r>
            <a:endParaRPr lang="en-US" sz="930" dirty="0"/>
          </a:p>
        </p:txBody>
      </p:sp>
      <p:sp>
        <p:nvSpPr>
          <p:cNvPr id="47" name="Title 6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Topología IASI Infrastructure 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Nodos y responsabilidades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máquina existe porque cumple una función distinta en el sistema de ingeniería.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3246120" cy="137160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1691640"/>
            <a:ext cx="91440" cy="13716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184708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iasi-dev · Windows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2221992"/>
            <a:ext cx="2862072" cy="7132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interactivo, IDEs, edición, operación diaria.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434840" y="1691640"/>
            <a:ext cx="3246120" cy="137160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434840" y="1691640"/>
            <a:ext cx="91440" cy="13716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36008" y="184708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iasi-tools · Ubuntu Server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36008" y="2221992"/>
            <a:ext cx="2862072" cy="7132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ingeniería, automatización, soporte a repositorios.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183880" y="1691640"/>
            <a:ext cx="3246120" cy="137160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83880" y="1691640"/>
            <a:ext cx="91440" cy="1371600"/>
          </a:xfrm>
          <a:prstGeom prst="rect">
            <a:avLst/>
          </a:prstGeom>
          <a:solidFill>
            <a:schemeClr val="accent3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5048" y="184708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iasi-ai · Ubuntu Server + GPU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85048" y="2221992"/>
            <a:ext cx="2862072" cy="7132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de Sistemas Inteligentes, modelos, inferencia local.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85800" y="3566160"/>
            <a:ext cx="3246120" cy="137160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5800" y="3566160"/>
            <a:ext cx="91440" cy="1371600"/>
          </a:xfrm>
          <a:prstGeom prst="rect">
            <a:avLst/>
          </a:prstGeom>
          <a:solidFill>
            <a:schemeClr val="accent5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372160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iasi-labs · Kubuntu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6968" y="4096512"/>
            <a:ext cx="2862072" cy="7132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experimental con GUI para pruebas, PoC y aprendizaje.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434840" y="35661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8EE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434840" y="3566160"/>
            <a:ext cx="91440" cy="1371600"/>
          </a:xfrm>
          <a:prstGeom prst="rect">
            <a:avLst/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36008" y="372160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iasi-work · Zona franca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36008" y="4096512"/>
            <a:ext cx="2862072" cy="7132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temporal y pruebas ad hoc fuera de la arquitectura estable.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183880" y="3566160"/>
            <a:ext cx="3246120" cy="137160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83880" y="3566160"/>
            <a:ext cx="91440" cy="1371600"/>
          </a:xfrm>
          <a:prstGeom prst="rect">
            <a:avLst/>
          </a:prstGeom>
          <a:solidFill>
            <a:schemeClr val="accent6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385048" y="3721608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iasi-tests · Reservado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85048" y="4096512"/>
            <a:ext cx="2862072" cy="7132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Futuro nodo dedicado a testing. No se usa como playground.</a:t>
            </a:r>
            <a:endParaRPr lang="en-US" sz="1120" dirty="0"/>
          </a:p>
        </p:txBody>
      </p:sp>
      <p:sp>
        <p:nvSpPr>
          <p:cNvPr id="36" name="Title 7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Nodos y responsabilidades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PPTX maestro, web navegable y PDF opcional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comodidad de edición no se sacrifica: se convierte en fuente autoral.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68680" y="2103120"/>
            <a:ext cx="2194560" cy="1143000"/>
          </a:xfrm>
          <a:prstGeom prst="roundRect">
            <a:avLst>
              <a:gd name="adj" fmla="val 6400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8992" y="2496312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presentation.pptx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2670048"/>
            <a:ext cx="1554480" cy="0"/>
          </a:xfrm>
          <a:prstGeom prst="line">
            <a:avLst/>
          </a:prstGeom>
          <a:noFill/>
          <a:ln>
            <a:noFill/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983480" y="16002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0" y="19202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web navegable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83480" y="2834640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85232" y="3172968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dk2"/>
                </a:solidFill>
              </a:rPr>
              <a:t>PDF opcional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0" y="2084832"/>
            <a:ext cx="1143000" cy="0"/>
          </a:xfrm>
          <a:prstGeom prst="line">
            <a:avLst/>
          </a:prstGeom>
          <a:noFill/>
          <a:ln>
            <a:noFill/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589520" y="3310128"/>
            <a:ext cx="1143000" cy="0"/>
          </a:xfrm>
          <a:prstGeom prst="line">
            <a:avLst/>
          </a:prstGeom>
          <a:noFill/>
          <a:ln>
            <a:noFill/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915400" y="1600200"/>
            <a:ext cx="2514600" cy="2148840"/>
          </a:xfrm>
          <a:prstGeom prst="roundRect">
            <a:avLst>
              <a:gd name="adj" fmla="val 3404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915400" y="1600200"/>
            <a:ext cx="91440" cy="2148840"/>
          </a:xfrm>
          <a:prstGeom prst="rect">
            <a:avLst/>
          </a:prstGeom>
          <a:solidFill>
            <a:schemeClr val="dk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16568" y="1755648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oro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16568" y="2130552"/>
            <a:ext cx="2130552" cy="149047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edita el PPTX. La web y el PDF se regeneran. No hay dos fuentes de verdad peleándose en un callejón.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14400" y="4343400"/>
            <a:ext cx="10469880" cy="960120"/>
          </a:xfrm>
          <a:prstGeom prst="roundRect">
            <a:avLst>
              <a:gd name="adj" fmla="val 7619"/>
            </a:avLst>
          </a:prstGeom>
          <a:solidFill>
            <a:srgbClr val="EAF7F6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4400" y="4343400"/>
            <a:ext cx="91440" cy="96012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15568" y="4498848"/>
            <a:ext cx="100858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Semántica IASI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5568" y="4873752"/>
            <a:ext cx="10085832" cy="30175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materialize toma una representación fuente y produce una representación utilizable derivada: web, PDF, documentación, infraestructura, scripts o paquetes.</a:t>
            </a:r>
            <a:endParaRPr lang="en-US" sz="1120" dirty="0"/>
          </a:p>
        </p:txBody>
      </p:sp>
      <p:sp>
        <p:nvSpPr>
          <p:cNvPr id="29" name="Title 8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PPTX maestro, web navegable y PDF opcional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experimento a arquitectura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frontera entre probar y adoptar debe ser explícita. Esa frontera es ingeniería.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68680" y="1874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8EE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34440" y="222199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iasi-work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2728" y="2496312"/>
            <a:ext cx="138988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prueba ad hoc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377440"/>
            <a:ext cx="1371600" cy="0"/>
          </a:xfrm>
          <a:prstGeom prst="line">
            <a:avLst/>
          </a:prstGeom>
          <a:noFill/>
          <a:ln>
            <a:noFill/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36592" y="1874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ECF7F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02352" y="222199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iasi-labs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93208" y="2496312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PoC validada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86600" y="2377440"/>
            <a:ext cx="1371600" cy="0"/>
          </a:xfrm>
          <a:prstGeom prst="line">
            <a:avLst/>
          </a:prstGeom>
          <a:noFill/>
          <a:ln>
            <a:noFill/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41080" y="18745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42832" y="221284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arquitectura estable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0" y="2496312"/>
            <a:ext cx="18745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dk2"/>
                </a:solidFill>
              </a:rPr>
              <a:t>promoción explícita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4400" y="3977640"/>
            <a:ext cx="91440" cy="1234440"/>
          </a:xfrm>
          <a:prstGeom prst="rect">
            <a:avLst/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15568" y="4133088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15568" y="4507992"/>
            <a:ext cx="2724912" cy="57607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Funciona, se entiende, se documenta, se puede repetir y tiene dueño.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52628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26280" y="3977640"/>
            <a:ext cx="91440" cy="1234440"/>
          </a:xfrm>
          <a:prstGeom prst="rect">
            <a:avLst/>
          </a:prstGeom>
          <a:solidFill>
            <a:schemeClr val="accent5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27448" y="4133088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27448" y="4507992"/>
            <a:ext cx="2724912" cy="57607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Notas, scripts, repos, decisiones, configuraciones y resultados observables.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13816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138160" y="3977640"/>
            <a:ext cx="91440" cy="123444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39328" y="4133088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39328" y="4507992"/>
            <a:ext cx="2724912" cy="57607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experimental deja de ser experimento cuando entra en la arquitectura con nombre y reglas.</a:t>
            </a:r>
            <a:endParaRPr lang="en-US" sz="1120" dirty="0"/>
          </a:p>
        </p:txBody>
      </p:sp>
      <p:sp>
        <p:nvSpPr>
          <p:cNvPr id="35" name="Title 9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De experimento a 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438912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637336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9728"/>
            <a:ext cx="6035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l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PASOS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655624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IASI · Ingeniería Aumentada con Sistemas Inteligentes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5471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Text 7">
            <a:hlinkClick r:id="rId1" tooltip="" action="ppaction://hlinksldjump"/>
          </p:cNvPr>
          <p:cNvSpPr/>
          <p:nvPr/>
        </p:nvSpPr>
        <p:spPr>
          <a:xfrm>
            <a:off x="10561320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chemeClr val="lt2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749808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pasos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" y="116128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chemeClr val="dk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esta presentación en una pieza viva del ecosistema IASI.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88136" y="1947672"/>
            <a:ext cx="14630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lt1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1737360"/>
            <a:ext cx="4069080" cy="109728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645920" y="1737360"/>
            <a:ext cx="91440" cy="1097280"/>
          </a:xfrm>
          <a:prstGeom prst="rect">
            <a:avLst/>
          </a:prstGeom>
          <a:solidFill>
            <a:schemeClr val="accent4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47088" y="1892808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Completar contenido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47088" y="2267712"/>
            <a:ext cx="3685032" cy="4389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Añadir notas, decisiones y enlaces internos/externos.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91656" y="1947672"/>
            <a:ext cx="14630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lt1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737360"/>
            <a:ext cx="4069080" cy="109728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49440" y="1737360"/>
            <a:ext cx="91440" cy="10972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50608" y="1892808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 conversión web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0608" y="2267712"/>
            <a:ext cx="3685032" cy="4389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navegación, anclas y pantalla completa.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chemeClr val="dk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88136" y="3822192"/>
            <a:ext cx="14630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lt1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3611880"/>
            <a:ext cx="4069080" cy="109728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45920" y="3611880"/>
            <a:ext cx="91440" cy="1097280"/>
          </a:xfrm>
          <a:prstGeom prst="rect">
            <a:avLst/>
          </a:prstGeom>
          <a:solidFill>
            <a:schemeClr val="dk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847088" y="3767328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dk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Añadir target PDF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47088" y="4142232"/>
            <a:ext cx="3685032" cy="4389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estática para distribución y archivo.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217920" y="365760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91656" y="3822192"/>
            <a:ext cx="14630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lt1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3611880"/>
            <a:ext cx="4069080" cy="109728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>
            <a:noFill/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949440" y="3611880"/>
            <a:ext cx="91440" cy="109728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150608" y="3767328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 con materialize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50608" y="4142232"/>
            <a:ext cx="3685032" cy="43891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chemeClr val="dk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como source artifact dentro del flujo IASI.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1920240" y="553212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dk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IASI no solo se describe. Se materializa.</a:t>
            </a:r>
            <a:endParaRPr lang="en-US" sz="2100" dirty="0"/>
          </a:p>
        </p:txBody>
      </p:sp>
      <p:sp>
        <p:nvSpPr>
          <p:cNvPr id="37" name="Title 10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Próximos pasos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der-construc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035"/>
            <a:ext cx="12191695" cy="4059929"/>
          </a:xfrm>
          <a:prstGeom prst="rect">
            <a:avLst/>
          </a:prstGeom>
        </p:spPr>
      </p:pic>
      <p:sp>
        <p:nvSpPr>
          <p:cNvPr id="3" name="Structural Title"/>
          <p:cNvSpPr txBox="1"/>
          <p:nvPr>
            <p:ph type="title"/>
          </p:nvPr>
        </p:nvSpPr>
        <p:spPr>
          <a:xfrm>
            <a:off x="0" y="6900000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00"/>
              <a:t>IASI está en construcción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3"/>
      </a:dk1>
      <a:lt1>
        <a:srgbClr val="FFFFFF"/>
      </a:lt1>
      <a:dk2>
        <a:srgbClr val="52606D"/>
      </a:dk2>
      <a:lt2>
        <a:srgbClr val="F5F9FC"/>
      </a:lt2>
      <a:accent1>
        <a:srgbClr val="2171B5"/>
      </a:accent1>
      <a:accent2>
        <a:srgbClr val="66C2A5"/>
      </a:accent2>
      <a:accent3>
        <a:srgbClr val="8DA0CB"/>
      </a:accent3>
      <a:accent4>
        <a:srgbClr val="FC8D62"/>
      </a:accent4>
      <a:accent5>
        <a:srgbClr val="A6D854"/>
      </a:accent5>
      <a:accent6>
        <a:srgbClr val="E78AC3"/>
      </a:accent6>
      <a:hlink>
        <a:srgbClr val="2B8CBE"/>
      </a:hlink>
      <a:folHlink>
        <a:srgbClr val="756BB1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Aumentada con Sistemas Inteligentes</dc:title>
  <dc:subject>IASI Infrastructure and Augmented Engineering</dc:subject>
  <dc:creator>Javier / MiChica</dc:creator>
  <cp:lastModifiedBy>Javier / MiChica</cp:lastModifiedBy>
  <cp:revision>1</cp:revision>
  <dcterms:created xsi:type="dcterms:W3CDTF">2026-09-13T18:14:31Z</dcterms:created>
  <dcterms:modified xsi:type="dcterms:W3CDTF">2026-09-13T18:14:31Z</dcterms:modified>
</cp:coreProperties>
</file>